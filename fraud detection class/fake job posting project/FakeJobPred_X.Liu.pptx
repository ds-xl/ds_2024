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73" r:id="rId6"/>
    <p:sldId id="274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75" r:id="rId15"/>
    <p:sldId id="266" r:id="rId16"/>
    <p:sldId id="278" r:id="rId17"/>
    <p:sldId id="295" r:id="rId18"/>
    <p:sldId id="296" r:id="rId19"/>
    <p:sldId id="297" r:id="rId20"/>
    <p:sldId id="270" r:id="rId21"/>
    <p:sldId id="283" r:id="rId22"/>
    <p:sldId id="298" r:id="rId23"/>
    <p:sldId id="299" r:id="rId24"/>
    <p:sldId id="300" r:id="rId25"/>
    <p:sldId id="286" r:id="rId26"/>
    <p:sldId id="287" r:id="rId27"/>
  </p:sldIdLst>
  <p:sldSz cx="9144000" cy="5143500" type="screen16x9"/>
  <p:notesSz cx="6858000" cy="9144000"/>
  <p:embeddedFontLst>
    <p:embeddedFont>
      <p:font typeface="Average" panose="02010600030101010101" charset="0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Oswald" panose="00000500000000000000" pitchFamily="2" charset="0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315" autoAdjust="0"/>
    <p:restoredTop sz="89233" autoAdjust="0"/>
  </p:normalViewPr>
  <p:slideViewPr>
    <p:cSldViewPr snapToGrid="0">
      <p:cViewPr varScale="1">
        <p:scale>
          <a:sx n="138" d="100"/>
          <a:sy n="138" d="100"/>
        </p:scale>
        <p:origin x="1368" y="1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f560c5dbcb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f560c5dbcb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f560c5dbcb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f560c5dbcb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BF38CC3-4E0B-74F3-BBA8-F1270B600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DB54FA5-618A-18FA-679B-892C56B10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13524D29-EC37-8B9C-00A7-CC45783320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44857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B8A6D0C8-06A9-412A-B89A-36D748849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33D6F85-B80B-8378-5E71-A14AF470E0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6F93F550-F44E-C7B8-D83F-203687DBA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0430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7630800D-42CF-12E1-C02E-7A1909512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70258184-445E-EBEB-ADD2-5A8AC57973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406C33FE-0C8F-7A13-9DE7-890E9BCAD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963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5EDD542-BF7A-6C46-5F60-EDD3C8FCD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6AD6C4EF-0593-571F-0175-7C7D239FE6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238BA8BF-FEF6-58F0-38B7-5EDB56F4F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8763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310A85E5-9A5B-DCED-4959-F867E48DD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A36CFC33-0761-F428-7F8F-9BC14FCAA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079F6FC1-D2B7-40D6-81E0-428DE82183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338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37F87A84-C36E-D246-351E-7FDB8BA5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A7B7C3C-F38F-1239-542F-4E505BAEAF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A69C3735-A397-B688-3FC0-6ADAEBA53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5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68B9213C-FD24-03A2-C772-2CA121AF1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34A0A61-CD5A-8C15-C38F-3CD6736E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31D8FE8A-32E0-D987-0505-BEAADD94AA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8983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585FCC1-2A4F-19EA-7CD2-7C632609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9183225A-81F7-E052-2C85-E09F0C458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9DB4D493-8940-342D-C8B0-F03C19232F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763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ADF8B52-3FE5-DB45-7EFD-89BC8C3A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EE9B7D9E-5569-9FAE-649A-305866087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DE2A4E51-1515-10B7-C561-F42045031E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62112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992B711-015F-2FA0-0564-CACF05B1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A9D4340-7B2C-8112-C28E-84983EDA4B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8672B0F7-6B1E-28A3-FE9D-4DEE74CC5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8869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f560c5dbcb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f560c5dbcb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933465F0-365B-77D3-010C-154947396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E791E3F6-BDEF-835B-8722-DC3C0D64EF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C3DBAEB6-3F8C-7036-0D79-23D17C82A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4463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F7B132F2-EFFF-6C6F-7429-9C3D25214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129D8AA-C05D-C584-4224-A7509DF2E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2AC19A6E-3505-A552-81EA-348206DEE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3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E4C1D179-FB15-B8A4-265D-3CA62CB7E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2CF5901B-C973-7F55-E8D9-82C43DDF3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BDDA0346-0EB7-054A-6FE8-506B1C5AD3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59925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A75545C-7729-281E-87F9-C91B84DA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2E212ECE-1521-605C-B6EE-94807504C2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6B7068B8-1EE0-0C9B-F1BD-9BCE1058A5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608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f560c5dbcb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f560c5dbcb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F33155FA-B95A-F8A4-EFDB-66DBD92C9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AC4C5211-78D3-DFD7-75B2-C182D116B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F2DE2180-A009-BB64-172F-59513869E5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16383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6AC37D5-3EDA-D407-D676-7AA68BDF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15A230CA-CC3D-A02B-16A4-3CEE4FF74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8F5B8E6D-1804-C226-A57E-12B04B8B5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35609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DE28DF3-BC52-99E5-C493-CC3A09400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72626F2-C21D-65E9-D94F-75F20B44E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5E783B26-6530-C90C-479C-814692BF6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82868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7C6B49C6-4D3A-84D9-DDCB-64011B459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702C5523-A162-81BC-5C08-F4616CA91D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5D7232B2-C03B-C5C0-3924-ABF30131A6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5196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B2C15486-83BF-EC85-9846-E8E39C76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056AD337-C8FD-CFC1-5021-8F628882EF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48BE19DA-311F-D7DD-1393-6A613C8DF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44055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DF90961B-DE0A-DADE-D9B4-F5E293A9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f560c5dbcb_0_321:notes">
            <a:extLst>
              <a:ext uri="{FF2B5EF4-FFF2-40B4-BE49-F238E27FC236}">
                <a16:creationId xmlns:a16="http://schemas.microsoft.com/office/drawing/2014/main" id="{360D1CDE-F604-77E7-C3CA-531DA0B1DF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f560c5dbcb_0_321:notes">
            <a:extLst>
              <a:ext uri="{FF2B5EF4-FFF2-40B4-BE49-F238E27FC236}">
                <a16:creationId xmlns:a16="http://schemas.microsoft.com/office/drawing/2014/main" id="{160EF16F-F776-8D34-368D-8E303D5D0A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0354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m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78345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Real/Fake Job Posting Prediction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3766381"/>
            <a:ext cx="8123100" cy="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Xiaohan Liu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@ OneCareer 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Oct-27-2024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600400" y="-86725"/>
            <a:ext cx="7679100" cy="110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Roadmap</a:t>
            </a:r>
            <a:endParaRPr sz="3200"/>
          </a:p>
        </p:txBody>
      </p:sp>
      <p:sp>
        <p:nvSpPr>
          <p:cNvPr id="66" name="Google Shape;66;p14"/>
          <p:cNvSpPr txBox="1"/>
          <p:nvPr/>
        </p:nvSpPr>
        <p:spPr>
          <a:xfrm>
            <a:off x="762450" y="742900"/>
            <a:ext cx="7619100" cy="3200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Data Preprocessing and EDA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lang="en-US"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Modeling</a:t>
            </a:r>
            <a:b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</a:br>
            <a:endParaRPr lang="en"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AutoNum type="arabicPeriod"/>
            </a:pPr>
            <a:r>
              <a:rPr lang="en" sz="28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Inference and Discussion</a:t>
            </a:r>
            <a:endParaRPr sz="28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 and EDA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Import and Label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This binary classification project has 2 challenges, 16 heterogenous features and 17,880 imbalanced target.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3 NA-free binary/Boolean features,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telecommuting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has_company_logo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has_questions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7 multinomial categorical features affected by missing values, 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salary_range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department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required_education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required_experience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industry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employment_type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6 textual features, 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benefits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company_profile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requirements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5 contain missing values.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39700" indent="0">
              <a:buNone/>
            </a:pPr>
            <a:endParaRPr lang="en-US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114300" indent="0" algn="ctr">
              <a:buNone/>
            </a:pP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Insight: A 19:1 class ratio </a:t>
            </a:r>
            <a:r>
              <a:rPr lang="en-US" sz="1200" b="1" u="sng" dirty="0">
                <a:solidFill>
                  <a:srgbClr val="CCCCCC"/>
                </a:solidFill>
                <a:latin typeface="Consolas" panose="020B0609020204030204" pitchFamily="49" charset="0"/>
              </a:rPr>
              <a:t>begs for</a:t>
            </a: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including ROC-AUC as the primary evaluation metric and </a:t>
            </a:r>
            <a:r>
              <a:rPr lang="en-US" sz="1200" b="1" u="sng" dirty="0">
                <a:solidFill>
                  <a:srgbClr val="CCCCCC"/>
                </a:solidFill>
                <a:latin typeface="Consolas" panose="020B0609020204030204" pitchFamily="49" charset="0"/>
              </a:rPr>
              <a:t>using class weights during modeling</a:t>
            </a:r>
            <a:r>
              <a:rPr lang="en-US" sz="1200" b="1" u="sng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FBA1E-9C7B-8758-7B70-7C7A7F9162F8}"/>
              </a:ext>
            </a:extLst>
          </p:cNvPr>
          <p:cNvSpPr txBox="1"/>
          <p:nvPr/>
        </p:nvSpPr>
        <p:spPr>
          <a:xfrm>
            <a:off x="6604416" y="3572"/>
            <a:ext cx="2643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1/11</a:t>
            </a:r>
            <a:endParaRPr lang="en-US" sz="8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71D279D7-7F07-F5C0-32FE-0084A61EF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06" y="2822316"/>
            <a:ext cx="1714588" cy="8636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8AC4558-20F2-C0B0-AA5C-78EDA9F13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E86146F-BD58-D387-1A05-F43EAE8B2A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Binary features (no NAs)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C73D8325-92E3-2963-7187-790C186CC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0FB7E-EB4E-AFE4-9019-06B2A80C81E2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2/11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E3BCAC9-6441-9871-870D-E01803C7003D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rgbClr val="CCCCCC"/>
                </a:solidFill>
                <a:latin typeface="Consolas" panose="020B0609020204030204" pitchFamily="49" charset="0"/>
              </a:rPr>
              <a:t>The</a:t>
            </a:r>
          </a:p>
          <a:p>
            <a:pPr marL="285750" indent="-285750"/>
            <a:endParaRPr lang="en-US" sz="13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4752E0-A4B7-298A-D92A-598662524CD6}"/>
              </a:ext>
            </a:extLst>
          </p:cNvPr>
          <p:cNvSpPr txBox="1"/>
          <p:nvPr/>
        </p:nvSpPr>
        <p:spPr>
          <a:xfrm>
            <a:off x="4269218" y="3343222"/>
            <a:ext cx="445025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Insight:</a:t>
            </a:r>
          </a:p>
          <a:p>
            <a:r>
              <a:rPr lang="en-US" sz="1300" b="1" u="sng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[</a:t>
            </a:r>
            <a:r>
              <a:rPr lang="en-US" sz="1300" b="1" u="sng" dirty="0" err="1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has_company_logo</a:t>
            </a:r>
            <a:r>
              <a:rPr lang="en-US" sz="1300" b="1" u="sng" dirty="0">
                <a:solidFill>
                  <a:srgbClr val="CCCCCC"/>
                </a:solidFill>
                <a:latin typeface="Consolas" panose="020B0609020204030204" pitchFamily="49" charset="0"/>
                <a:sym typeface="Average"/>
              </a:rPr>
              <a:t>] looks promising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C5AF0F-9299-A711-31AB-A9B586298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676028"/>
            <a:ext cx="3411544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24CC59-5800-A5C9-692C-BEF81C550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687251"/>
            <a:ext cx="3411544" cy="182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BFD594-74CF-6D02-CE5D-B289514EE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3007138"/>
            <a:ext cx="3381617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28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D3FEC4BB-059D-D728-164C-CD0961B4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695682D-1B61-2769-4B6C-F7549BB9E6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1-2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D7788FF0-1851-5AA3-1BBB-C578C7ADDE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7C249-1C26-0C92-3DD5-B61DF05FD266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3/11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5A9B8F38-AF9F-6EC9-9269-7C081AAEA0E3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454C8-E75E-8050-942C-DD12F9484065}"/>
              </a:ext>
            </a:extLst>
          </p:cNvPr>
          <p:cNvSpPr txBox="1"/>
          <p:nvPr/>
        </p:nvSpPr>
        <p:spPr>
          <a:xfrm>
            <a:off x="4325630" y="571054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19% missing.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6.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Unknown(6.94%)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Part-time(9.28%)</a:t>
            </a:r>
            <a:b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Temporary(0.83%)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Contract(2.89%)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A6B3E-D441-CDEA-DF8A-155887EF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626150"/>
            <a:ext cx="3411544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AE8C22-84B4-A568-33E4-A7A6A06B6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10698"/>
            <a:ext cx="3411544" cy="21670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04A7122-3571-2ECB-019E-9B3F60D7F73F}"/>
              </a:ext>
            </a:extLst>
          </p:cNvPr>
          <p:cNvSpPr txBox="1"/>
          <p:nvPr/>
        </p:nvSpPr>
        <p:spPr>
          <a:xfrm>
            <a:off x="4325630" y="2898080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39% missing.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8.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Executive(7.09%)</a:t>
            </a:r>
          </a:p>
          <a:p>
            <a:b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Associate Level(1.83%)</a:t>
            </a:r>
          </a:p>
          <a:p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Internship(2.79%)</a:t>
            </a:r>
          </a:p>
        </p:txBody>
      </p:sp>
    </p:spTree>
    <p:extLst>
      <p:ext uri="{BB962C8B-B14F-4D97-AF65-F5344CB8AC3E}">
        <p14:creationId xmlns:p14="http://schemas.microsoft.com/office/powerpoint/2010/main" val="2724558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7D0007F1-D03F-5023-21E2-D03239760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DF278FDC-1A78-1874-655D-28609142BA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3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8CE46D79-C307-0571-4D7E-3D69DEF3A5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8BEC7-96B7-F24A-99D6-DBC48CB2FE8E}"/>
              </a:ext>
            </a:extLst>
          </p:cNvPr>
          <p:cNvSpPr txBox="1"/>
          <p:nvPr/>
        </p:nvSpPr>
        <p:spPr>
          <a:xfrm>
            <a:off x="6604416" y="3572"/>
            <a:ext cx="2661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4/11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2BEFF721-EAB7-2798-587A-6882FAC32A83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9C372-AE3F-6CD1-B3B5-1562BCC3F0C2}"/>
              </a:ext>
            </a:extLst>
          </p:cNvPr>
          <p:cNvSpPr txBox="1"/>
          <p:nvPr/>
        </p:nvSpPr>
        <p:spPr>
          <a:xfrm>
            <a:off x="4382043" y="1656376"/>
            <a:ext cx="4450257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45% missing.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14 before the pre-processing.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Its cardinality is 12 after the pre-processing.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Some High School Coursework(74.07%)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High School or Equivalent(8.17%)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Certification(11.18%)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The following are significantly lower: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Bachelor's Degree(1.94%)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Associate Degree(2.19%)</a:t>
            </a: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i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**Vocational(0%)**</a:t>
            </a:r>
            <a:r>
              <a:rPr lang="en-US" sz="1100" b="0" i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09F3A2-A63F-07C4-9709-39A0420EF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84901"/>
            <a:ext cx="3896812" cy="309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1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B042F436-6B9E-A22B-5CD2-5D60A73EA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FBAE37F-4B57-88F1-5B1B-AE75F113F7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4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F91C726E-ADFB-0364-E091-B2A98C1247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38988-6B3B-CCA8-15ED-D889480322AA}"/>
              </a:ext>
            </a:extLst>
          </p:cNvPr>
          <p:cNvSpPr txBox="1"/>
          <p:nvPr/>
        </p:nvSpPr>
        <p:spPr>
          <a:xfrm>
            <a:off x="6604416" y="3572"/>
            <a:ext cx="2659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5/11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3E009237-B767-1B31-3377-46A239DFB71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F88615-4C12-B4F4-F761-D28D6ABA6102}"/>
              </a:ext>
            </a:extLst>
          </p:cNvPr>
          <p:cNvSpPr txBox="1"/>
          <p:nvPr/>
        </p:nvSpPr>
        <p:spPr>
          <a:xfrm>
            <a:off x="4693743" y="910174"/>
            <a:ext cx="4450257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- 84%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875 before the preprocessing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- 100-1K (10.05%)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- 1K-10K (16.94%)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- 10K-15K (16.05%)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- 35K-40K (7.87%)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- 70K-75K (19.15%)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- 75K-80K (22.73%)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- 100K-125K (17.81%)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- 125K-150K (7.35%)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- 20K-25K (0.65%)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- 30K-35K (2.76%)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- 45K-50K (1.61%)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- 65K-70K (1.00%)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- 90K-100K (2.74%)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- 150K-300K (0%)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A8C11B-1F63-9DEE-6019-B382BFC19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" y="524095"/>
            <a:ext cx="3802602" cy="2286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4553F7-80F4-B858-CFAC-C7B7F42E9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50" y="2857500"/>
            <a:ext cx="3728622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745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2486D312-5E3B-2FF0-ED08-AAEAE6BD7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8513D829-CFD2-0391-7FBC-0DD0604409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5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9BB955A4-7C83-A763-FFB7-42AC51E407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CCE76D-5292-04BA-3D1F-7F610FD1F897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6/11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E49F7DDB-F72C-E681-C539-21253741FE57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28034A-06D3-DEDE-B18E-1AD5843A3495}"/>
              </a:ext>
            </a:extLst>
          </p:cNvPr>
          <p:cNvSpPr txBox="1"/>
          <p:nvPr/>
        </p:nvSpPr>
        <p:spPr>
          <a:xfrm>
            <a:off x="4269218" y="421897"/>
            <a:ext cx="4450257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- 65%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1337 before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Other(10.15%)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Administrative(19.86%)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Accounting(11.45%)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Human Resources(32.99%)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Maintenance(9.72%)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Clerical(91.18%)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Information Technology(1.83%)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Sales(2.77%)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Marketing(1.03%)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Management(2.61%)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Research and Design(1.59%)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Operations(1.26%)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Development(0.78%)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Logistics(1.79%)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Consulting and Strategy(2.63%)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General Business(1.20%)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Public Relations(1.32%)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_**Production(0%)**_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_**Quality Assurance(0%)**_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01435-DC79-D89D-FFB6-D20904198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14" y="528969"/>
            <a:ext cx="3330382" cy="2286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9F4239-3F2E-BE21-FD5B-40C55A09E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14" y="2855450"/>
            <a:ext cx="3265714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70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3DE959E7-FC8F-64A9-2321-F973F449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6E86028-24E4-B59D-1F3D-862421301E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6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6FDAED44-922A-8E42-7BEB-CD4C75CB2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16F49C-29E8-5CDF-EBCA-9C41933DF091}"/>
              </a:ext>
            </a:extLst>
          </p:cNvPr>
          <p:cNvSpPr txBox="1"/>
          <p:nvPr/>
        </p:nvSpPr>
        <p:spPr>
          <a:xfrm>
            <a:off x="6604416" y="3572"/>
            <a:ext cx="26404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7/11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BB3F7FCC-E754-47F7-C8A2-6D1B6DE527B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E16AF7-B7C0-CB8D-8272-BCD674C098C3}"/>
              </a:ext>
            </a:extLst>
          </p:cNvPr>
          <p:cNvSpPr txBox="1"/>
          <p:nvPr/>
        </p:nvSpPr>
        <p:spPr>
          <a:xfrm>
            <a:off x="4269218" y="421897"/>
            <a:ext cx="4450257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- 27%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132 before the preprocessing.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22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Healthcare and Hospital(8.17%)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Finance and Insurance(17.82%)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Transportation and Tourism(12.83%)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Energy(36.82%)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Computer Software(0.94%)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Education(0.20%)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Research and Design(2.26%)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Media and Networks(2.07%)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Food(0.60%)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A6971-8BAA-F7C0-9F07-99022F1C6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75" y="1262418"/>
            <a:ext cx="3789065" cy="320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D5B5CE3-B4AF-8C38-F9CD-CD27C007A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097" y="3532230"/>
            <a:ext cx="5054638" cy="1420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975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EE5ACC38-5850-0F23-9E40-43429A3D9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EF65481E-CCF3-6E47-BA6F-1FE2F51CD2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Features 7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C29302C6-1CFD-6C1A-32D1-AF7962DE2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9FA171-193C-29CC-D7F9-FD92BA82E78C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8/11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554D0EA9-5695-E3EB-B751-BEA81DEB710E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F420EE-C4D0-9CB3-E01C-B5F09AC446ED}"/>
              </a:ext>
            </a:extLst>
          </p:cNvPr>
          <p:cNvSpPr txBox="1"/>
          <p:nvPr/>
        </p:nvSpPr>
        <p:spPr>
          <a:xfrm>
            <a:off x="4693743" y="410208"/>
            <a:ext cx="4450257" cy="5001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- 36% missing.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Same preprocessing as Categorical 6.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38 before the preprocessing. 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Its cardinality is 25 after the preprocessing.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- Compared to the population 4.85% fraudulent rate, the following are significantly higher: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Engineering(8.38%)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Administrative(15.33%)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Accounting/Auditing(13.68%)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Finance(9.76%)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Other(9.85%)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The following are significantly lower: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Information Technology(1.83%)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Sales(2.79%)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Marketing and Advertising(1.63%)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Management(2.61%)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Art and Design(0.85%)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Education(0.28%)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Healthcare Provider(0.30%)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Manufacturing(1.05%)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Consulting and Strategy(2.63%)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General Business(1.20%)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Public Relations(1.32%)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_**Writing/Editing(0%)**_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_**Quality Assurance(0%)**_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_**Research(0%)**_</a:t>
            </a:r>
          </a:p>
          <a:p>
            <a:r>
              <a:rPr lang="en-US" sz="11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   - _**Legal(0%)**_</a:t>
            </a:r>
          </a:p>
          <a:p>
            <a:endParaRPr lang="en-US" sz="11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E23D40-123E-204C-46B0-E535B0721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5" y="1198850"/>
            <a:ext cx="4485843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40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BF9AAD19-2E07-F0E0-DA59-5764532A5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02B09FC-ACB9-F7BD-B2CB-8F98EB8573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Categorical 7.5 + Textual 0.5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A13AC8F9-C7F3-6B0F-4734-D23328BFD4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4C777-D133-AC9B-71D4-C1AEF33E7E11}"/>
              </a:ext>
            </a:extLst>
          </p:cNvPr>
          <p:cNvSpPr txBox="1"/>
          <p:nvPr/>
        </p:nvSpPr>
        <p:spPr>
          <a:xfrm>
            <a:off x="6604416" y="3572"/>
            <a:ext cx="266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9/11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9FB78ED5-96E8-F8BB-78CA-DE341B1DCDF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863C40-C973-2FE5-E5FC-E5BE9C86C89A}"/>
              </a:ext>
            </a:extLst>
          </p:cNvPr>
          <p:cNvSpPr txBox="1"/>
          <p:nvPr/>
        </p:nvSpPr>
        <p:spPr>
          <a:xfrm>
            <a:off x="4775201" y="2970888"/>
            <a:ext cx="44502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2% missing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we can see that the Format of the Data present is : </a:t>
            </a:r>
            <a:r>
              <a:rPr lang="en-US" sz="12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**Country Name(Abbreviated) , State Name(Abbreviated) , City Name / Area Name.**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We just extract the country into a new categorical column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Country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with cardinality of 87.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The standardized [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column will be considered as a member of the textual packs and treated along with the rest of the pack.</a:t>
            </a:r>
          </a:p>
        </p:txBody>
      </p:sp>
      <p:pic>
        <p:nvPicPr>
          <p:cNvPr id="5" name="Picture 4" descr="A map of the world">
            <a:extLst>
              <a:ext uri="{FF2B5EF4-FFF2-40B4-BE49-F238E27FC236}">
                <a16:creationId xmlns:a16="http://schemas.microsoft.com/office/drawing/2014/main" id="{3DA25D58-5911-CA86-4D55-73A1AEA88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" y="574750"/>
            <a:ext cx="3885810" cy="20116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30129A-997B-37EC-0A4A-0EFC594FB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50" y="2697359"/>
            <a:ext cx="3885070" cy="20116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EF7644-6F3B-091B-65D3-8B3F86D15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201" y="574750"/>
            <a:ext cx="3861059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63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2574DBF-52A0-59A2-2583-F3659F460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16323846-0BBF-58C6-C76A-BD0B31C89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 Textual Features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5CBEFB6-810F-90B5-DC60-1808D3919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802B9E-7139-4F90-421A-4068DF8FC792}"/>
              </a:ext>
            </a:extLst>
          </p:cNvPr>
          <p:cNvSpPr txBox="1"/>
          <p:nvPr/>
        </p:nvSpPr>
        <p:spPr>
          <a:xfrm>
            <a:off x="6507434" y="1246"/>
            <a:ext cx="274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10/11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2EDAF72-7FBE-FEB3-850D-B1711DA22A25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indent="0">
              <a:buFont typeface="Average"/>
              <a:buNone/>
            </a:pP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CB943E-3033-BC9D-4781-96975F2A3475}"/>
              </a:ext>
            </a:extLst>
          </p:cNvPr>
          <p:cNvSpPr txBox="1"/>
          <p:nvPr/>
        </p:nvSpPr>
        <p:spPr>
          <a:xfrm>
            <a:off x="4011859" y="843124"/>
            <a:ext cx="44502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Merge the textual features into 1 </a:t>
            </a:r>
          </a:p>
          <a:p>
            <a:r>
              <a:rPr lang="en-US" sz="12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 Lowercasing,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171450" indent="-171450">
              <a:buFontTx/>
              <a:buChar char="-"/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Remove punctuations,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Using </a:t>
            </a:r>
            <a:r>
              <a:rPr lang="en-US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SpaCy’s</a:t>
            </a: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 ‘</a:t>
            </a:r>
            <a:r>
              <a:rPr lang="en-US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en_core_web_lg</a:t>
            </a:r>
            <a:r>
              <a:rPr lang="en-US" sz="1200" dirty="0">
                <a:solidFill>
                  <a:srgbClr val="CCCCCC"/>
                </a:solidFill>
                <a:latin typeface="Consolas" panose="020B0609020204030204" pitchFamily="49" charset="0"/>
              </a:rPr>
              <a:t>’ pretrained model to remove stop words, add POS tags, and lemmatize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E8C055-19ED-2067-B957-2A6F8CC2E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80" y="807264"/>
            <a:ext cx="3056195" cy="404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90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D0DA2B48-09EA-23AC-F959-FE664C45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EDA8801-5229-EA00-BDC7-23815D5F2B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Numeric Features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1B977D8B-57DF-BCA3-C2CC-1BFBA9A5C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37A4A-A402-6119-71FB-789285B3A854}"/>
              </a:ext>
            </a:extLst>
          </p:cNvPr>
          <p:cNvSpPr txBox="1"/>
          <p:nvPr/>
        </p:nvSpPr>
        <p:spPr>
          <a:xfrm>
            <a:off x="6548998" y="1246"/>
            <a:ext cx="27254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Data Preprocessing and EDA 11/11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03E7E040-A2EC-08A2-230C-CD013BD219FE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r>
              <a:rPr lang="en-US" sz="14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Create columns to count the occurrence of URLs, Emails and Phone Numbers in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row-wise [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N_URLs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N_phones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,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N_emails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as numeric features.</a:t>
            </a:r>
          </a:p>
          <a:p>
            <a:r>
              <a:rPr lang="en-US" sz="14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Create another numeric feature to record the length of the text as [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len_text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D292CE-F7A5-CDE3-796D-26BFAE9E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288" y="2060731"/>
            <a:ext cx="1996604" cy="2738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D0F7-9337-470D-2AA2-CE704159D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068125"/>
            <a:ext cx="2302890" cy="2730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818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Modeling</a:t>
            </a:r>
            <a:br>
              <a:rPr lang="en" dirty="0"/>
            </a:br>
            <a:r>
              <a:rPr lang="en" dirty="0"/>
              <a:t>(CatBoost)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0F58AE43-DCCA-4F74-6483-5FFB74844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59576B45-876F-352A-F3A7-F24A6CE66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Without Text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C82A232-70B0-36D2-F66F-D16F03FC9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62688D-2461-69E0-1FC4-7DC771DC599B}"/>
              </a:ext>
            </a:extLst>
          </p:cNvPr>
          <p:cNvSpPr txBox="1"/>
          <p:nvPr/>
        </p:nvSpPr>
        <p:spPr>
          <a:xfrm>
            <a:off x="8018405" y="1246"/>
            <a:ext cx="1159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1/4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6376DBEB-BEBC-D5AB-EFF7-076B657CB74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128EB-FD1D-C844-3A0B-8E373C45D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05" y="1435769"/>
            <a:ext cx="274320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984678-1526-E754-79D4-02FCA9A9BA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840" y="1435769"/>
            <a:ext cx="3177125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311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98567F52-6899-86FF-0154-1DBCE0F8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F477AF89-5E23-1F15-BE88-941B9C3FE5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Bag-of-Word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31020BCA-2394-A0BD-031B-8B1446A09A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23D060-1647-EE3A-5F24-4A1A5539246F}"/>
              </a:ext>
            </a:extLst>
          </p:cNvPr>
          <p:cNvSpPr txBox="1"/>
          <p:nvPr/>
        </p:nvSpPr>
        <p:spPr>
          <a:xfrm>
            <a:off x="8018405" y="1246"/>
            <a:ext cx="11753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2/4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E4724642-FA78-E88D-B040-080D0EA90B9B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D181C0-F47B-7268-1815-E5456FD44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05" y="1366139"/>
            <a:ext cx="2743200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B830D0-7C49-5144-2A89-15400D629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410" y="1366139"/>
            <a:ext cx="317712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995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EE3853C1-A3EE-A9B2-06B7-67BA3E5E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9577E0B1-892C-C671-E7DB-785DDB81A0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TF-IDF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6B466942-81D4-E8FC-018B-1BA66E694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41D26A-C09B-BBDD-5015-4BCC9E334596}"/>
              </a:ext>
            </a:extLst>
          </p:cNvPr>
          <p:cNvSpPr txBox="1"/>
          <p:nvPr/>
        </p:nvSpPr>
        <p:spPr>
          <a:xfrm>
            <a:off x="8018405" y="1246"/>
            <a:ext cx="11753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3/4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0553655B-5591-8F57-976D-0A6F3525D5F4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16524C-96A7-C1A7-475C-2131692EA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70" y="1366139"/>
            <a:ext cx="2817235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AAFEFF-BCEB-541D-4CD7-EFAC3159B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883" y="1340427"/>
            <a:ext cx="317712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435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2BFB9B94-2BA7-2BA7-2238-7AEE8099F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6603B010-D640-AA7B-BAF2-E52BF8B421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GloVe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3B1AF73-D681-77B4-79CD-1003BC795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CBB2A-9317-AFBD-E662-D905D63EA8E0}"/>
              </a:ext>
            </a:extLst>
          </p:cNvPr>
          <p:cNvSpPr txBox="1"/>
          <p:nvPr/>
        </p:nvSpPr>
        <p:spPr>
          <a:xfrm>
            <a:off x="8018405" y="1246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Modeling 4/4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78178204-E497-64C9-AEA6-CAEE068A3489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5C0E81-65D2-93B4-4F56-32EACF355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079" y="1366139"/>
            <a:ext cx="2817235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0B9084-5C6E-1AC8-F5D9-CB380FE49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846" y="1365862"/>
            <a:ext cx="317712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15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 Inference &amp; Discussion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69783983-1792-696E-A7FC-D80FB7F96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A1AEB447-6061-77D2-E559-7DF8D9E3ED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No Text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8C74FAF-D024-7F9B-D770-1C05F2D8C1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07C02-DB61-5761-CFC6-BC3E30BA3BD9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1/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4C175D1B-0E65-33CB-617B-97C808A0B5E6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5455BB-9A99-E10A-635D-4DA7BC696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63" y="1366139"/>
            <a:ext cx="4099837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23F62F-BDDA-A03E-0A7E-1A3A9530E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7288" y="1137539"/>
            <a:ext cx="3314549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2105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CC9183F0-03C4-BD86-07FE-8D78147C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320F3DD-46D4-D3F1-009A-099F883A6D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Bag-of-Word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5D39199-2E06-8507-84B4-F49C567FA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81561-447A-D7CE-CD1C-4BEAC970E653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2/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6F1C8757-A6BF-B813-7970-E5C6F5BF5228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1E56DD-88FF-14F5-60B7-44889388E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288" y="1137539"/>
            <a:ext cx="3314549" cy="3200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EE3A404-CFBD-ECE5-1268-9CF4D0D36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2" y="1366139"/>
            <a:ext cx="4099837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37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A0C0CE34-D741-A927-30E9-4D6F35B7E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264C98D-2687-EA8C-3010-DEDD0DB9B8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TF-IDF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065B1607-15A3-4272-0EF7-71CF9BF2B1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80AD70-ABF3-9116-B83E-14666E0BD736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3/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D5B0AC88-60D0-8185-E275-6690ED4457CD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7BD529-553B-4374-AA3E-353573231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38" y="1366139"/>
            <a:ext cx="4099837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EA3405-D8CB-4911-3BDA-BCDBC04F3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089" y="1137539"/>
            <a:ext cx="3148198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921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A8A72289-D39A-08ED-1C97-DA1F7CC4F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B7D8AE18-A92E-F457-67B4-D49599D36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Inference of </a:t>
            </a:r>
            <a:r>
              <a:rPr lang="en-US" dirty="0" err="1"/>
              <a:t>GloVe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7ECA74C1-9E49-3247-10A0-1460409FA1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066B76-F1FA-59EB-4F5F-53AEB59AB954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1/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5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819754D2-3A81-1EC3-B3DC-0A6A02CB886C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20AC53-2B27-54DA-5451-ACE47CFB7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62" y="1366139"/>
            <a:ext cx="4119788" cy="2743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4A8F44-F439-FC2F-7A96-E3309B9AA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0127" y="1137539"/>
            <a:ext cx="3148198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249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17385F90-D344-CD8F-0519-D702D450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28D09B0D-A2B9-3CB8-8C46-5AB2D6D270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Discussion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771DDDE-95B9-336A-3CA9-19BACC5170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3F6C6-E96A-2373-8753-E0AA781074A9}"/>
              </a:ext>
            </a:extLst>
          </p:cNvPr>
          <p:cNvSpPr txBox="1"/>
          <p:nvPr/>
        </p:nvSpPr>
        <p:spPr>
          <a:xfrm>
            <a:off x="7024226" y="-32507"/>
            <a:ext cx="22493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Inference &amp; Discussion</a:t>
            </a:r>
            <a:r>
              <a:rPr kumimoji="0" lang="en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swald"/>
                <a:sym typeface="Oswald"/>
              </a:rPr>
              <a:t> 5/5</a:t>
            </a:r>
            <a:r>
              <a:rPr lang="en" sz="1600" dirty="0">
                <a:solidFill>
                  <a:srgbClr val="FFFFFF"/>
                </a:solidFill>
                <a:latin typeface="Oswald"/>
                <a:sym typeface="Oswald"/>
              </a:rPr>
              <a:t> </a:t>
            </a:r>
            <a:endParaRPr lang="en-US" sz="8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F1D0D51A-1BB3-115E-C46F-90BDA04DFE2C}"/>
              </a:ext>
            </a:extLst>
          </p:cNvPr>
          <p:cNvSpPr txBox="1">
            <a:spLocks/>
          </p:cNvSpPr>
          <p:nvPr/>
        </p:nvSpPr>
        <p:spPr>
          <a:xfrm>
            <a:off x="311700" y="766439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All textual features contributes vastly to the model’s performance.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 err="1"/>
              <a:t>CatBoost</a:t>
            </a:r>
            <a:r>
              <a:rPr lang="en-US" sz="1400" dirty="0"/>
              <a:t> can singlehandedly perform well even without the inclusion of the textual features.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[location] feature is the most important except the merged text feature.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[</a:t>
            </a:r>
            <a:r>
              <a:rPr lang="en-US" sz="1400" dirty="0" err="1"/>
              <a:t>has_company_logo</a:t>
            </a:r>
            <a:r>
              <a:rPr lang="en-US" sz="1400" dirty="0"/>
              <a:t>] comes to a very close in second by importance.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The added numeric features, [N_URLs], [</a:t>
            </a:r>
            <a:r>
              <a:rPr lang="en-US" sz="1400" dirty="0" err="1"/>
              <a:t>N_phones</a:t>
            </a:r>
            <a:r>
              <a:rPr lang="en-US" sz="1400" dirty="0"/>
              <a:t>], [</a:t>
            </a:r>
            <a:r>
              <a:rPr lang="en-US" sz="1400" dirty="0" err="1"/>
              <a:t>N_emails</a:t>
            </a:r>
            <a:r>
              <a:rPr lang="en-US" sz="1400" dirty="0"/>
              <a:t>], [</a:t>
            </a:r>
            <a:r>
              <a:rPr lang="en-US" sz="1400" dirty="0" err="1"/>
              <a:t>len_text</a:t>
            </a:r>
            <a:r>
              <a:rPr lang="en-US" sz="1400" dirty="0"/>
              <a:t>] are also imperative in improving the models’ performances.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When approaching the capacity of the dataset and model, changing the embedding scheme won’t further improve the performance. </a:t>
            </a:r>
          </a:p>
        </p:txBody>
      </p:sp>
    </p:spTree>
    <p:extLst>
      <p:ext uri="{BB962C8B-B14F-4D97-AF65-F5344CB8AC3E}">
        <p14:creationId xmlns:p14="http://schemas.microsoft.com/office/powerpoint/2010/main" val="3297666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8E525998-C27D-500D-3346-BAD94BD7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AA3DCCD2-4FDC-5C58-3AE5-87E8122ABB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8875" y="53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Acknowledgement</a:t>
            </a:r>
            <a:endParaRPr dirty="0"/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708DB01A-5996-9B6F-6C57-748CAC400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626150"/>
            <a:ext cx="8520600" cy="3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6" name="Google Shape;77;p16">
            <a:extLst>
              <a:ext uri="{FF2B5EF4-FFF2-40B4-BE49-F238E27FC236}">
                <a16:creationId xmlns:a16="http://schemas.microsoft.com/office/drawing/2014/main" id="{94B51054-5EEA-F8C0-65AC-8E83102819D9}"/>
              </a:ext>
            </a:extLst>
          </p:cNvPr>
          <p:cNvSpPr txBox="1">
            <a:spLocks/>
          </p:cNvSpPr>
          <p:nvPr/>
        </p:nvSpPr>
        <p:spPr>
          <a:xfrm>
            <a:off x="311700" y="750564"/>
            <a:ext cx="8520600" cy="3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 sz="1400" b="0" i="0" u="none" strike="noStrike" cap="none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Established works from talented authors from Kaggle leaderboard.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Inspirations from our group members: </a:t>
            </a:r>
            <a:r>
              <a:rPr lang="en-US" sz="1400" b="1" dirty="0" err="1"/>
              <a:t>Xinbo</a:t>
            </a:r>
            <a:r>
              <a:rPr lang="en-US" sz="1400" b="1" dirty="0"/>
              <a:t>, Amelia, Sara, </a:t>
            </a:r>
            <a:r>
              <a:rPr lang="en-US" sz="1400" b="1" dirty="0" err="1"/>
              <a:t>Xiaoheng</a:t>
            </a:r>
            <a:r>
              <a:rPr lang="en-US" sz="1400" b="1" dirty="0"/>
              <a:t>, </a:t>
            </a:r>
            <a:r>
              <a:rPr lang="en-US" sz="1400" b="1" dirty="0" err="1"/>
              <a:t>Yingxue</a:t>
            </a:r>
            <a:r>
              <a:rPr lang="en-US" sz="1400" b="1" dirty="0"/>
              <a:t>, Daisy, and Roman.</a:t>
            </a:r>
            <a:r>
              <a:rPr lang="en-US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400" dirty="0"/>
              <a:t>Advice and help from our leader: </a:t>
            </a:r>
            <a:r>
              <a:rPr lang="en-US" sz="1400" b="1" dirty="0"/>
              <a:t>Roger and Catherine. </a:t>
            </a:r>
          </a:p>
        </p:txBody>
      </p:sp>
      <p:sp>
        <p:nvSpPr>
          <p:cNvPr id="2" name="Google Shape;167;p29">
            <a:extLst>
              <a:ext uri="{FF2B5EF4-FFF2-40B4-BE49-F238E27FC236}">
                <a16:creationId xmlns:a16="http://schemas.microsoft.com/office/drawing/2014/main" id="{FF138E2D-9B8E-CFD3-267F-09F5DD526BBA}"/>
              </a:ext>
            </a:extLst>
          </p:cNvPr>
          <p:cNvSpPr txBox="1">
            <a:spLocks/>
          </p:cNvSpPr>
          <p:nvPr/>
        </p:nvSpPr>
        <p:spPr>
          <a:xfrm>
            <a:off x="311700" y="2347475"/>
            <a:ext cx="8520600" cy="18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algn="ctr"/>
            <a:r>
              <a:rPr lang="en-US" sz="3200" dirty="0" err="1"/>
              <a:t>Muchas</a:t>
            </a:r>
            <a:r>
              <a:rPr lang="en-US" sz="3200" dirty="0"/>
              <a:t> Gracias, Muy </a:t>
            </a:r>
            <a:r>
              <a:rPr lang="en-US" sz="3200" dirty="0" err="1"/>
              <a:t>amable</a:t>
            </a:r>
            <a:r>
              <a:rPr lang="en-US" sz="32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879983323"/>
      </p:ext>
    </p:extLst>
  </p:cSld>
  <p:clrMapOvr>
    <a:masterClrMapping/>
  </p:clrMapOvr>
</p:sld>
</file>

<file path=ppt/theme/theme1.xml><?xml version="1.0" encoding="utf-8"?>
<a:theme xmlns:a="http://schemas.openxmlformats.org/drawingml/2006/main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</TotalTime>
  <Words>1530</Words>
  <Application>Microsoft Office PowerPoint</Application>
  <PresentationFormat>On-screen Show (16:9)</PresentationFormat>
  <Paragraphs>228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Average</vt:lpstr>
      <vt:lpstr>Oswald</vt:lpstr>
      <vt:lpstr>Wingdings</vt:lpstr>
      <vt:lpstr>Arial</vt:lpstr>
      <vt:lpstr>Consolas</vt:lpstr>
      <vt:lpstr>Slate</vt:lpstr>
      <vt:lpstr>Real/Fake Job Posting Prediction</vt:lpstr>
      <vt:lpstr>Roadmap</vt:lpstr>
      <vt:lpstr>Data Preprocessing and EDA</vt:lpstr>
      <vt:lpstr>Data Import and Label</vt:lpstr>
      <vt:lpstr>Binary features (no NAs)</vt:lpstr>
      <vt:lpstr>Categorical Features 1-2</vt:lpstr>
      <vt:lpstr>Categorical Features 3</vt:lpstr>
      <vt:lpstr>Categorical Features 4</vt:lpstr>
      <vt:lpstr>Categorical Features 5</vt:lpstr>
      <vt:lpstr>Categorical Features 6</vt:lpstr>
      <vt:lpstr>Categorical Features 7</vt:lpstr>
      <vt:lpstr>Categorical 7.5 + Textual 0.5</vt:lpstr>
      <vt:lpstr>6 Textual Features</vt:lpstr>
      <vt:lpstr>Numeric Features</vt:lpstr>
      <vt:lpstr>Modeling (CatBoost)</vt:lpstr>
      <vt:lpstr>Without Text</vt:lpstr>
      <vt:lpstr>Bag-of-Word</vt:lpstr>
      <vt:lpstr>TF-IDF</vt:lpstr>
      <vt:lpstr>GloVe</vt:lpstr>
      <vt:lpstr> Inference &amp; Discussion</vt:lpstr>
      <vt:lpstr>Inference of No Text</vt:lpstr>
      <vt:lpstr>Inference of Bag-of-Word</vt:lpstr>
      <vt:lpstr>Inference of TF-IDF</vt:lpstr>
      <vt:lpstr>Inference of GloVe</vt:lpstr>
      <vt:lpstr>Discussion</vt:lpstr>
      <vt:lpstr>Acknowledgement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Xiaohan Liu</cp:lastModifiedBy>
  <cp:revision>17</cp:revision>
  <dcterms:modified xsi:type="dcterms:W3CDTF">2024-10-27T18:50:11Z</dcterms:modified>
</cp:coreProperties>
</file>